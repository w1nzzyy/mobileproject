
<file path=[Content_Types].xml><?xml version="1.0" encoding="utf-8"?>
<Types xmlns="http://schemas.openxmlformats.org/package/2006/content-types"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50" r:id="rId1"/>
  </p:sldMasterIdLst>
  <p:notesMasterIdLst>
    <p:notesMasterId r:id="rId10"/>
  </p:notesMasterIdLst>
  <p:sldIdLst>
    <p:sldId id="256" r:id="rId2"/>
    <p:sldId id="257" r:id="rId3"/>
    <p:sldId id="259" r:id="rId4"/>
    <p:sldId id="260" r:id="rId5"/>
    <p:sldId id="261" r:id="rId6"/>
    <p:sldId id="265" r:id="rId7"/>
    <p:sldId id="263" r:id="rId8"/>
    <p:sldId id="266" r:id="rId9"/>
  </p:sldIdLst>
  <p:sldSz cx="12192000" cy="6858000"/>
  <p:notesSz cx="6858000" cy="12192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60" d="100"/>
          <a:sy n="60" d="100"/>
        </p:scale>
        <p:origin x="884" y="48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theme" Target="theme/theme1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viewProps" Target="view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presProps" Target="presProps.xml"/><Relationship Id="rId5" Type="http://schemas.openxmlformats.org/officeDocument/2006/relationships/slide" Target="slides/slide4.xml"/><Relationship Id="rId10" Type="http://schemas.openxmlformats.org/officeDocument/2006/relationships/notesMaster" Target="notesMasters/notesMaster1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361786669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Титульный слай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2417779" y="802298"/>
            <a:ext cx="8637073" cy="2541431"/>
          </a:xfrm>
        </p:spPr>
        <p:txBody>
          <a:bodyPr bIns="0" anchor="b">
            <a:normAutofit/>
          </a:bodyPr>
          <a:lstStyle>
            <a:lvl1pPr algn="l">
              <a:defRPr sz="6600"/>
            </a:lvl1pPr>
          </a:lstStyle>
          <a:p>
            <a:r>
              <a:rPr lang="ru-RU"/>
              <a:t>Образец заголовка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2417780" y="3531204"/>
            <a:ext cx="8637072" cy="977621"/>
          </a:xfrm>
        </p:spPr>
        <p:txBody>
          <a:bodyPr tIns="91440" bIns="91440">
            <a:normAutofit/>
          </a:bodyPr>
          <a:lstStyle>
            <a:lvl1pPr marL="0" indent="0" algn="l">
              <a:buNone/>
              <a:defRPr sz="1800" b="0" cap="all" baseline="0">
                <a:solidFill>
                  <a:schemeClr val="tx1"/>
                </a:solidFill>
              </a:defRPr>
            </a:lvl1pPr>
            <a:lvl2pPr marL="457200" indent="0" algn="ctr">
              <a:buNone/>
              <a:defRPr sz="18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ru-RU"/>
              <a:t>Образец подзаголовка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8A87A34-81AB-432B-8DAE-1953F412C126}" type="datetimeFigureOut">
              <a:rPr lang="en-US" dirty="0"/>
              <a:t>12/23/2025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2416500" y="329307"/>
            <a:ext cx="4973915" cy="309201"/>
          </a:xfrm>
        </p:spPr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1437664" y="798973"/>
            <a:ext cx="811019" cy="503578"/>
          </a:xfrm>
        </p:spPr>
        <p:txBody>
          <a:bodyPr/>
          <a:lstStyle/>
          <a:p>
            <a:fld id="{6D22F896-40B5-4ADD-8801-0D06FADFA095}" type="slidenum">
              <a:rPr lang="en-US" dirty="0"/>
              <a:t>‹#›</a:t>
            </a:fld>
            <a:endParaRPr lang="en-US" dirty="0"/>
          </a:p>
        </p:txBody>
      </p:sp>
      <p:cxnSp>
        <p:nvCxnSpPr>
          <p:cNvPr id="15" name="Straight Connector 14"/>
          <p:cNvCxnSpPr/>
          <p:nvPr/>
        </p:nvCxnSpPr>
        <p:spPr>
          <a:xfrm>
            <a:off x="2417780" y="3528542"/>
            <a:ext cx="8637072" cy="0"/>
          </a:xfrm>
          <a:prstGeom prst="line">
            <a:avLst/>
          </a:prstGeom>
          <a:ln w="31750"/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66970525"/>
      </p:ext>
    </p:extLst>
  </p:cSld>
  <p:clrMapOvr>
    <a:masterClrMapping/>
  </p:clrMapOvr>
  <p:hf sldNum="0" hdr="0" ftr="0" dt="0"/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Заголовок и объект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/>
              <a:t>Образец заголовка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 anchor="t"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8A87A34-81AB-432B-8DAE-1953F412C126}" type="datetimeFigureOut">
              <a:rPr lang="en-US" dirty="0"/>
              <a:t>12/23/2025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D22F896-40B5-4ADD-8801-0D06FADFA095}" type="slidenum">
              <a:rPr lang="en-US" dirty="0"/>
              <a:t>‹#›</a:t>
            </a:fld>
            <a:endParaRPr lang="en-US" dirty="0"/>
          </a:p>
        </p:txBody>
      </p:sp>
      <p:cxnSp>
        <p:nvCxnSpPr>
          <p:cNvPr id="33" name="Straight Connector 32"/>
          <p:cNvCxnSpPr/>
          <p:nvPr/>
        </p:nvCxnSpPr>
        <p:spPr>
          <a:xfrm>
            <a:off x="1453896" y="1847088"/>
            <a:ext cx="9607522" cy="0"/>
          </a:xfrm>
          <a:prstGeom prst="line">
            <a:avLst/>
          </a:prstGeom>
          <a:ln w="31750"/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104540643"/>
      </p:ext>
    </p:extLst>
  </p:cSld>
  <p:clrMapOvr>
    <a:masterClrMapping/>
  </p:clrMapOvr>
  <p:hf sldNum="0" hdr="0" ftr="0" dt="0"/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Заголовок раздела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454239" y="1756130"/>
            <a:ext cx="8643154" cy="1887950"/>
          </a:xfrm>
        </p:spPr>
        <p:txBody>
          <a:bodyPr anchor="b">
            <a:normAutofit/>
          </a:bodyPr>
          <a:lstStyle>
            <a:lvl1pPr algn="l">
              <a:defRPr sz="3600"/>
            </a:lvl1pPr>
          </a:lstStyle>
          <a:p>
            <a:r>
              <a:rPr lang="ru-RU"/>
              <a:t>Образец заголовка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454239" y="3806195"/>
            <a:ext cx="8630446" cy="1012929"/>
          </a:xfrm>
        </p:spPr>
        <p:txBody>
          <a:bodyPr tIns="91440">
            <a:normAutofit/>
          </a:bodyPr>
          <a:lstStyle>
            <a:lvl1pPr marL="0" indent="0" algn="l">
              <a:buNone/>
              <a:defRPr sz="1800">
                <a:solidFill>
                  <a:schemeClr val="tx1"/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ru-RU"/>
              <a:t>Образец текста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8A87A34-81AB-432B-8DAE-1953F412C126}" type="datetimeFigureOut">
              <a:rPr lang="en-US" dirty="0"/>
              <a:t>12/23/2025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D22F896-40B5-4ADD-8801-0D06FADFA095}" type="slidenum">
              <a:rPr lang="en-US" dirty="0"/>
              <a:t>‹#›</a:t>
            </a:fld>
            <a:endParaRPr lang="en-US" dirty="0"/>
          </a:p>
        </p:txBody>
      </p:sp>
      <p:cxnSp>
        <p:nvCxnSpPr>
          <p:cNvPr id="15" name="Straight Connector 14"/>
          <p:cNvCxnSpPr/>
          <p:nvPr/>
        </p:nvCxnSpPr>
        <p:spPr>
          <a:xfrm>
            <a:off x="1454239" y="3804985"/>
            <a:ext cx="8630446" cy="0"/>
          </a:xfrm>
          <a:prstGeom prst="line">
            <a:avLst/>
          </a:prstGeom>
          <a:ln w="31750"/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281085750"/>
      </p:ext>
    </p:extLst>
  </p:cSld>
  <p:clrMapOvr>
    <a:masterClrMapping/>
  </p:clrMapOvr>
  <p:hf sldNum="0" hdr="0" ftr="0" dt="0"/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Два объекта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449217" y="804889"/>
            <a:ext cx="9605635" cy="1059305"/>
          </a:xfrm>
        </p:spPr>
        <p:txBody>
          <a:bodyPr/>
          <a:lstStyle/>
          <a:p>
            <a:r>
              <a:rPr lang="ru-RU"/>
              <a:t>Образец заголовка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1447331" y="2010878"/>
            <a:ext cx="4645152" cy="3448595"/>
          </a:xfrm>
        </p:spPr>
        <p:txBody>
          <a:bodyPr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413771" y="2017343"/>
            <a:ext cx="4645152" cy="3441520"/>
          </a:xfrm>
        </p:spPr>
        <p:txBody>
          <a:bodyPr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8A87A34-81AB-432B-8DAE-1953F412C126}" type="datetimeFigureOut">
              <a:rPr lang="en-US" dirty="0"/>
              <a:t>12/23/2025</a:t>
            </a:fld>
            <a:endParaRPr lang="en-US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D22F896-40B5-4ADD-8801-0D06FADFA095}" type="slidenum">
              <a:rPr lang="en-US" dirty="0"/>
              <a:t>‹#›</a:t>
            </a:fld>
            <a:endParaRPr lang="en-US" dirty="0"/>
          </a:p>
        </p:txBody>
      </p:sp>
      <p:cxnSp>
        <p:nvCxnSpPr>
          <p:cNvPr id="35" name="Straight Connector 34"/>
          <p:cNvCxnSpPr/>
          <p:nvPr/>
        </p:nvCxnSpPr>
        <p:spPr>
          <a:xfrm>
            <a:off x="1453896" y="1847088"/>
            <a:ext cx="9607522" cy="0"/>
          </a:xfrm>
          <a:prstGeom prst="line">
            <a:avLst/>
          </a:prstGeom>
          <a:ln w="31750"/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989937697"/>
      </p:ext>
    </p:extLst>
  </p:cSld>
  <p:clrMapOvr>
    <a:masterClrMapping/>
  </p:clrMapOvr>
  <p:hf sldNum="0" hdr="0" ftr="0" dt="0"/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Сравнение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447191" y="804163"/>
            <a:ext cx="9607661" cy="1056319"/>
          </a:xfrm>
        </p:spPr>
        <p:txBody>
          <a:bodyPr/>
          <a:lstStyle/>
          <a:p>
            <a:r>
              <a:rPr lang="ru-RU"/>
              <a:t>Образец заголовка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447191" y="2019549"/>
            <a:ext cx="4645152" cy="801943"/>
          </a:xfrm>
        </p:spPr>
        <p:txBody>
          <a:bodyPr anchor="b">
            <a:normAutofit/>
          </a:bodyPr>
          <a:lstStyle>
            <a:lvl1pPr marL="0" indent="0">
              <a:lnSpc>
                <a:spcPct val="100000"/>
              </a:lnSpc>
              <a:buNone/>
              <a:defRPr sz="2200" b="0" cap="all" baseline="0">
                <a:solidFill>
                  <a:schemeClr val="accent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ru-RU"/>
              <a:t>Образец текста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1447191" y="2824269"/>
            <a:ext cx="4645152" cy="2644457"/>
          </a:xfrm>
        </p:spPr>
        <p:txBody>
          <a:bodyPr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6412362" y="2023003"/>
            <a:ext cx="4645152" cy="802237"/>
          </a:xfrm>
        </p:spPr>
        <p:txBody>
          <a:bodyPr anchor="b">
            <a:normAutofit/>
          </a:bodyPr>
          <a:lstStyle>
            <a:lvl1pPr marL="0" indent="0">
              <a:lnSpc>
                <a:spcPct val="100000"/>
              </a:lnSpc>
              <a:buNone/>
              <a:defRPr sz="2200" b="0" cap="all" baseline="0">
                <a:solidFill>
                  <a:schemeClr val="accent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ru-RU"/>
              <a:t>Образец текста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6412362" y="2821491"/>
            <a:ext cx="4645152" cy="2637371"/>
          </a:xfrm>
        </p:spPr>
        <p:txBody>
          <a:bodyPr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8A87A34-81AB-432B-8DAE-1953F412C126}" type="datetimeFigureOut">
              <a:rPr lang="en-US" dirty="0"/>
              <a:t>12/23/2025</a:t>
            </a:fld>
            <a:endParaRPr lang="en-US" dirty="0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D22F896-40B5-4ADD-8801-0D06FADFA095}" type="slidenum">
              <a:rPr lang="en-US" dirty="0"/>
              <a:t>‹#›</a:t>
            </a:fld>
            <a:endParaRPr lang="en-US" dirty="0"/>
          </a:p>
        </p:txBody>
      </p:sp>
      <p:cxnSp>
        <p:nvCxnSpPr>
          <p:cNvPr id="29" name="Straight Connector 28"/>
          <p:cNvCxnSpPr/>
          <p:nvPr/>
        </p:nvCxnSpPr>
        <p:spPr>
          <a:xfrm>
            <a:off x="1453896" y="1847088"/>
            <a:ext cx="9607522" cy="0"/>
          </a:xfrm>
          <a:prstGeom prst="line">
            <a:avLst/>
          </a:prstGeom>
          <a:ln w="31750"/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4094203854"/>
      </p:ext>
    </p:extLst>
  </p:cSld>
  <p:clrMapOvr>
    <a:masterClrMapping/>
  </p:clrMapOvr>
  <p:hf sldNum="0" hdr="0" ftr="0" dt="0"/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Только заголовок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/>
              <a:t>Образец заголовка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8A87A34-81AB-432B-8DAE-1953F412C126}" type="datetimeFigureOut">
              <a:rPr lang="en-US" dirty="0"/>
              <a:t>12/23/2025</a:t>
            </a:fld>
            <a:endParaRPr lang="en-US" dirty="0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D22F896-40B5-4ADD-8801-0D06FADFA095}" type="slidenum">
              <a:rPr lang="en-US" dirty="0"/>
              <a:t>‹#›</a:t>
            </a:fld>
            <a:endParaRPr lang="en-US" dirty="0"/>
          </a:p>
        </p:txBody>
      </p:sp>
      <p:cxnSp>
        <p:nvCxnSpPr>
          <p:cNvPr id="25" name="Straight Connector 24"/>
          <p:cNvCxnSpPr/>
          <p:nvPr/>
        </p:nvCxnSpPr>
        <p:spPr>
          <a:xfrm>
            <a:off x="1453896" y="1847088"/>
            <a:ext cx="9607522" cy="0"/>
          </a:xfrm>
          <a:prstGeom prst="line">
            <a:avLst/>
          </a:prstGeom>
          <a:ln w="31750"/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097831675"/>
      </p:ext>
    </p:extLst>
  </p:cSld>
  <p:clrMapOvr>
    <a:masterClrMapping/>
  </p:clrMapOvr>
  <p:hf sldNum="0" hdr="0" ftr="0" dt="0"/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Пустой слай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8A87A34-81AB-432B-8DAE-1953F412C126}" type="datetimeFigureOut">
              <a:rPr lang="en-US" dirty="0"/>
              <a:t>12/23/2025</a:t>
            </a:fld>
            <a:endParaRPr lang="en-US" dirty="0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D22F896-40B5-4ADD-8801-0D06FADFA095}" type="slidenum">
              <a:rPr lang="en-US" dirty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194982608"/>
      </p:ext>
    </p:extLst>
  </p:cSld>
  <p:clrMapOvr>
    <a:masterClrMapping/>
  </p:clrMapOvr>
  <p:hf sldNum="0" hdr="0" ftr="0" dt="0"/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Объект с подписью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444671" y="798973"/>
            <a:ext cx="3273099" cy="2247117"/>
          </a:xfrm>
        </p:spPr>
        <p:txBody>
          <a:bodyPr anchor="b">
            <a:normAutofit/>
          </a:bodyPr>
          <a:lstStyle>
            <a:lvl1pPr algn="l">
              <a:defRPr sz="2400"/>
            </a:lvl1pPr>
          </a:lstStyle>
          <a:p>
            <a:r>
              <a:rPr lang="ru-RU"/>
              <a:t>Образец заголовка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5043714" y="798974"/>
            <a:ext cx="6012470" cy="4658826"/>
          </a:xfrm>
        </p:spPr>
        <p:txBody>
          <a:bodyPr anchor="ctr"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444671" y="3205491"/>
            <a:ext cx="3275013" cy="2248181"/>
          </a:xfrm>
        </p:spPr>
        <p:txBody>
          <a:bodyPr/>
          <a:lstStyle>
            <a:lvl1pPr marL="0" indent="0" algn="l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ru-RU"/>
              <a:t>Образец текста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8A87A34-81AB-432B-8DAE-1953F412C126}" type="datetimeFigureOut">
              <a:rPr lang="en-US" dirty="0"/>
              <a:t>12/23/2025</a:t>
            </a:fld>
            <a:endParaRPr lang="en-US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D22F896-40B5-4ADD-8801-0D06FADFA095}" type="slidenum">
              <a:rPr lang="en-US" dirty="0"/>
              <a:t>‹#›</a:t>
            </a:fld>
            <a:endParaRPr lang="en-US" dirty="0"/>
          </a:p>
        </p:txBody>
      </p:sp>
      <p:cxnSp>
        <p:nvCxnSpPr>
          <p:cNvPr id="17" name="Straight Connector 16"/>
          <p:cNvCxnSpPr/>
          <p:nvPr/>
        </p:nvCxnSpPr>
        <p:spPr>
          <a:xfrm>
            <a:off x="1448280" y="3205491"/>
            <a:ext cx="3269490" cy="0"/>
          </a:xfrm>
          <a:prstGeom prst="line">
            <a:avLst/>
          </a:prstGeom>
          <a:ln w="31750"/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912855190"/>
      </p:ext>
    </p:extLst>
  </p:cSld>
  <p:clrMapOvr>
    <a:masterClrMapping/>
  </p:clrMapOvr>
  <p:hf sldNum="0" hdr="0" ftr="0" dt="0"/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Рисунок с подписью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8" name="Group 7"/>
          <p:cNvGrpSpPr/>
          <p:nvPr/>
        </p:nvGrpSpPr>
        <p:grpSpPr>
          <a:xfrm>
            <a:off x="7477387" y="482170"/>
            <a:ext cx="4074533" cy="5149101"/>
            <a:chOff x="7477387" y="482170"/>
            <a:chExt cx="4074533" cy="5149101"/>
          </a:xfrm>
        </p:grpSpPr>
        <p:sp>
          <p:nvSpPr>
            <p:cNvPr id="18" name="Rectangle 17"/>
            <p:cNvSpPr/>
            <p:nvPr/>
          </p:nvSpPr>
          <p:spPr bwMode="black">
            <a:xfrm>
              <a:off x="7477387" y="482170"/>
              <a:ext cx="4074533" cy="5149101"/>
            </a:xfrm>
            <a:prstGeom prst="rect">
              <a:avLst/>
            </a:prstGeom>
            <a:gradFill>
              <a:gsLst>
                <a:gs pos="0">
                  <a:srgbClr val="000001"/>
                </a:gs>
                <a:gs pos="100000">
                  <a:srgbClr val="191919"/>
                </a:gs>
              </a:gsLst>
            </a:gradFill>
            <a:ln w="76200" cmpd="sng">
              <a:noFill/>
              <a:miter lim="800000"/>
            </a:ln>
            <a:effectLst>
              <a:outerShdw blurRad="127000" dist="228600" dir="4740000" sx="98000" sy="98000" algn="tl" rotWithShape="0">
                <a:srgbClr val="000000">
                  <a:alpha val="34000"/>
                </a:srgbClr>
              </a:outerShdw>
            </a:effectLst>
            <a:scene3d>
              <a:camera prst="orthographicFront"/>
              <a:lightRig rig="threePt" dir="t"/>
            </a:scene3d>
            <a:sp3d>
              <a:bevelT w="152400" h="50800" prst="softRound"/>
            </a:sp3d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19" name="Rectangle 18"/>
            <p:cNvSpPr/>
            <p:nvPr/>
          </p:nvSpPr>
          <p:spPr bwMode="blackWhite">
            <a:xfrm>
              <a:off x="7790446" y="812506"/>
              <a:ext cx="3450289" cy="4466452"/>
            </a:xfrm>
            <a:prstGeom prst="rect">
              <a:avLst/>
            </a:prstGeom>
            <a:gradFill>
              <a:gsLst>
                <a:gs pos="0">
                  <a:srgbClr val="DADADA"/>
                </a:gs>
                <a:gs pos="100000">
                  <a:srgbClr val="FFFFFE"/>
                </a:gs>
              </a:gsLst>
              <a:lin ang="16200000" scaled="0"/>
            </a:gradFill>
            <a:ln w="50800" cmpd="sng">
              <a:solidFill>
                <a:srgbClr val="191919"/>
              </a:solidFill>
              <a:miter lim="800000"/>
            </a:ln>
            <a:effectLst>
              <a:innerShdw blurRad="63500" dist="88900" dir="14100000">
                <a:srgbClr val="000000">
                  <a:alpha val="30000"/>
                </a:srgbClr>
              </a:innerShdw>
            </a:effectLst>
            <a:scene3d>
              <a:camera prst="orthographicFront"/>
              <a:lightRig rig="threePt" dir="t"/>
            </a:scene3d>
            <a:sp3d>
              <a:bevelT prst="relaxedInset"/>
            </a:sp3d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</p:grp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451206" y="1129513"/>
            <a:ext cx="5532328" cy="1830584"/>
          </a:xfrm>
        </p:spPr>
        <p:txBody>
          <a:bodyPr anchor="b">
            <a:normAutofit/>
          </a:bodyPr>
          <a:lstStyle>
            <a:lvl1pPr>
              <a:defRPr sz="3200"/>
            </a:lvl1pPr>
          </a:lstStyle>
          <a:p>
            <a:r>
              <a:rPr lang="ru-RU"/>
              <a:t>Образец заголовка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8124389" y="1122542"/>
            <a:ext cx="2791171" cy="3866327"/>
          </a:xfrm>
          <a:solidFill>
            <a:schemeClr val="bg1">
              <a:lumMod val="85000"/>
            </a:schemeClr>
          </a:solidFill>
          <a:ln w="9525" cap="sq">
            <a:noFill/>
            <a:miter lim="800000"/>
          </a:ln>
          <a:effectLst/>
        </p:spPr>
        <p:txBody>
          <a:bodyPr anchor="t"/>
          <a:lstStyle>
            <a:lvl1pPr marL="0" indent="0" algn="ctr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ru-RU"/>
              <a:t>Вставка рисунка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450329" y="3145992"/>
            <a:ext cx="5524404" cy="2003742"/>
          </a:xfrm>
        </p:spPr>
        <p:txBody>
          <a:bodyPr>
            <a:normAutofit/>
          </a:bodyPr>
          <a:lstStyle>
            <a:lvl1pPr marL="0" indent="0" algn="l">
              <a:buNone/>
              <a:defRPr sz="18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ru-RU"/>
              <a:t>Образец текста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>
          <a:xfrm>
            <a:off x="1447382" y="5469856"/>
            <a:ext cx="5527351" cy="320123"/>
          </a:xfrm>
        </p:spPr>
        <p:txBody>
          <a:bodyPr/>
          <a:lstStyle>
            <a:lvl1pPr algn="l">
              <a:defRPr/>
            </a:lvl1pPr>
          </a:lstStyle>
          <a:p>
            <a:fld id="{48A87A34-81AB-432B-8DAE-1953F412C126}" type="datetimeFigureOut">
              <a:rPr lang="en-US" dirty="0"/>
              <a:pPr/>
              <a:t>12/23/2025</a:t>
            </a:fld>
            <a:endParaRPr lang="en-US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>
          <a:xfrm>
            <a:off x="1447382" y="318640"/>
            <a:ext cx="5541004" cy="320931"/>
          </a:xfrm>
        </p:spPr>
        <p:txBody>
          <a:bodyPr/>
          <a:lstStyle/>
          <a:p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D22F896-40B5-4ADD-8801-0D06FADFA095}" type="slidenum">
              <a:rPr lang="en-US" dirty="0"/>
              <a:t>‹#›</a:t>
            </a:fld>
            <a:endParaRPr lang="en-US" dirty="0"/>
          </a:p>
        </p:txBody>
      </p:sp>
      <p:cxnSp>
        <p:nvCxnSpPr>
          <p:cNvPr id="31" name="Straight Connector 30"/>
          <p:cNvCxnSpPr/>
          <p:nvPr/>
        </p:nvCxnSpPr>
        <p:spPr>
          <a:xfrm>
            <a:off x="1447382" y="3143605"/>
            <a:ext cx="5527351" cy="0"/>
          </a:xfrm>
          <a:prstGeom prst="line">
            <a:avLst/>
          </a:prstGeom>
          <a:ln w="31750"/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985755537"/>
      </p:ext>
    </p:extLst>
  </p:cSld>
  <p:clrMapOvr>
    <a:masterClrMapping/>
  </p:clrMapOvr>
  <p:hf sldNum="0" hdr="0" ftr="0" dt="0"/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Заголовок и вертикальный текст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/>
              <a:t>Образец заголовка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8A87A34-81AB-432B-8DAE-1953F412C126}" type="datetimeFigureOut">
              <a:rPr lang="en-US" dirty="0"/>
              <a:t>12/23/2025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D22F896-40B5-4ADD-8801-0D06FADFA095}" type="slidenum">
              <a:rPr lang="en-US" dirty="0"/>
              <a:t>‹#›</a:t>
            </a:fld>
            <a:endParaRPr lang="en-US" dirty="0"/>
          </a:p>
        </p:txBody>
      </p:sp>
      <p:cxnSp>
        <p:nvCxnSpPr>
          <p:cNvPr id="26" name="Straight Connector 25"/>
          <p:cNvCxnSpPr/>
          <p:nvPr/>
        </p:nvCxnSpPr>
        <p:spPr>
          <a:xfrm>
            <a:off x="1453896" y="1847088"/>
            <a:ext cx="9607522" cy="0"/>
          </a:xfrm>
          <a:prstGeom prst="line">
            <a:avLst/>
          </a:prstGeom>
          <a:ln w="31750"/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30473617"/>
      </p:ext>
    </p:extLst>
  </p:cSld>
  <p:clrMapOvr>
    <a:masterClrMapping/>
  </p:clrMapOvr>
  <p:hf sldNum="0" hdr="0" ftr="0" dt="0"/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Вертикальный заголовок и текст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9439111" y="798973"/>
            <a:ext cx="1615742" cy="4659889"/>
          </a:xfrm>
        </p:spPr>
        <p:txBody>
          <a:bodyPr vert="eaVert"/>
          <a:lstStyle>
            <a:lvl1pPr algn="l">
              <a:defRPr/>
            </a:lvl1pPr>
          </a:lstStyle>
          <a:p>
            <a:r>
              <a:rPr lang="ru-RU"/>
              <a:t>Образец заголовка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1444672" y="798973"/>
            <a:ext cx="7828830" cy="4659889"/>
          </a:xfrm>
        </p:spPr>
        <p:txBody>
          <a:bodyPr vert="eaVert"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8A87A34-81AB-432B-8DAE-1953F412C126}" type="datetimeFigureOut">
              <a:rPr lang="en-US" dirty="0"/>
              <a:t>12/23/2025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D22F896-40B5-4ADD-8801-0D06FADFA095}" type="slidenum">
              <a:rPr lang="en-US" dirty="0"/>
              <a:t>‹#›</a:t>
            </a:fld>
            <a:endParaRPr lang="en-US" dirty="0"/>
          </a:p>
        </p:txBody>
      </p:sp>
      <p:cxnSp>
        <p:nvCxnSpPr>
          <p:cNvPr id="15" name="Straight Connector 14"/>
          <p:cNvCxnSpPr/>
          <p:nvPr/>
        </p:nvCxnSpPr>
        <p:spPr>
          <a:xfrm>
            <a:off x="9439111" y="798973"/>
            <a:ext cx="0" cy="4659889"/>
          </a:xfrm>
          <a:prstGeom prst="line">
            <a:avLst/>
          </a:prstGeom>
          <a:ln w="31750"/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207310720"/>
      </p:ext>
    </p:extLst>
  </p:cSld>
  <p:clrMapOvr>
    <a:masterClrMapping/>
  </p:clrMapOvr>
  <p:hf sldNum="0" hdr="0" ftr="0" dt="0"/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3432960347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theme" Target="../theme/theme1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image" Target="../media/image1.jpg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3">
        <a:schemeClr val="bg2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Rectangle 7"/>
          <p:cNvSpPr/>
          <p:nvPr/>
        </p:nvSpPr>
        <p:spPr>
          <a:xfrm>
            <a:off x="0" y="2019476"/>
            <a:ext cx="12192000" cy="4105941"/>
          </a:xfrm>
          <a:prstGeom prst="rect">
            <a:avLst/>
          </a:prstGeom>
          <a:gradFill flip="none" rotWithShape="1">
            <a:gsLst>
              <a:gs pos="0">
                <a:schemeClr val="bg2">
                  <a:alpha val="0"/>
                </a:schemeClr>
              </a:gs>
              <a:gs pos="100000">
                <a:schemeClr val="bg2"/>
              </a:gs>
            </a:gsLst>
            <a:lin ang="5400000" scaled="0"/>
            <a:tileRect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pic>
        <p:nvPicPr>
          <p:cNvPr id="7" name="Picture 6"/>
          <p:cNvPicPr>
            <a:picLocks noChangeAspect="1"/>
          </p:cNvPicPr>
          <p:nvPr/>
        </p:nvPicPr>
        <p:blipFill rotWithShape="1">
          <a:blip r:embed="rId1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1538" b="-1538"/>
          <a:stretch/>
        </p:blipFill>
        <p:spPr bwMode="black">
          <a:xfrm>
            <a:off x="0" y="6126480"/>
            <a:ext cx="12192000" cy="742950"/>
          </a:xfrm>
          <a:prstGeom prst="rect">
            <a:avLst/>
          </a:prstGeom>
        </p:spPr>
      </p:pic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1451579" y="804519"/>
            <a:ext cx="9603275" cy="1049235"/>
          </a:xfrm>
          <a:prstGeom prst="rect">
            <a:avLst/>
          </a:prstGeom>
        </p:spPr>
        <p:txBody>
          <a:bodyPr vert="horz" lIns="91440" tIns="45720" rIns="91440" bIns="45720" rtlCol="0" anchor="t">
            <a:normAutofit/>
          </a:bodyPr>
          <a:lstStyle/>
          <a:p>
            <a:r>
              <a:rPr lang="ru-RU"/>
              <a:t>Образец заголовка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451579" y="2015732"/>
            <a:ext cx="9603275" cy="345061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7554138" y="330370"/>
            <a:ext cx="3500715" cy="309201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0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48A87A34-81AB-432B-8DAE-1953F412C126}" type="datetimeFigureOut">
              <a:rPr lang="en-US" dirty="0"/>
              <a:pPr/>
              <a:t>12/23/2025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1451579" y="329307"/>
            <a:ext cx="5938836" cy="309201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0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480060" y="798973"/>
            <a:ext cx="811019" cy="503578"/>
          </a:xfrm>
          <a:prstGeom prst="rect">
            <a:avLst/>
          </a:prstGeom>
        </p:spPr>
        <p:txBody>
          <a:bodyPr vert="horz" lIns="91440" tIns="45720" rIns="91440" bIns="45720" rtlCol="0" anchor="t"/>
          <a:lstStyle>
            <a:lvl1pPr algn="r">
              <a:defRPr sz="2800">
                <a:solidFill>
                  <a:schemeClr val="accent1"/>
                </a:solidFill>
              </a:defRPr>
            </a:lvl1pPr>
          </a:lstStyle>
          <a:p>
            <a:fld id="{6D22F896-40B5-4ADD-8801-0D06FADFA095}" type="slidenum">
              <a:rPr lang="en-US" dirty="0"/>
              <a:pPr/>
              <a:t>‹#›</a:t>
            </a:fld>
            <a:endParaRPr lang="en-US" dirty="0"/>
          </a:p>
        </p:txBody>
      </p:sp>
      <p:cxnSp>
        <p:nvCxnSpPr>
          <p:cNvPr id="10" name="Straight Connector 9"/>
          <p:cNvCxnSpPr/>
          <p:nvPr/>
        </p:nvCxnSpPr>
        <p:spPr>
          <a:xfrm>
            <a:off x="0" y="6128413"/>
            <a:ext cx="12192000" cy="0"/>
          </a:xfrm>
          <a:prstGeom prst="line">
            <a:avLst/>
          </a:prstGeom>
          <a:ln w="12700">
            <a:solidFill>
              <a:srgbClr val="000001">
                <a:alpha val="20000"/>
              </a:srgb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403773557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51" r:id="rId1"/>
    <p:sldLayoutId id="2147483652" r:id="rId2"/>
    <p:sldLayoutId id="2147483653" r:id="rId3"/>
    <p:sldLayoutId id="2147483654" r:id="rId4"/>
    <p:sldLayoutId id="2147483655" r:id="rId5"/>
    <p:sldLayoutId id="2147483656" r:id="rId6"/>
    <p:sldLayoutId id="2147483657" r:id="rId7"/>
    <p:sldLayoutId id="2147483658" r:id="rId8"/>
    <p:sldLayoutId id="2147483659" r:id="rId9"/>
    <p:sldLayoutId id="2147483660" r:id="rId10"/>
    <p:sldLayoutId id="2147483661" r:id="rId11"/>
    <p:sldLayoutId id="2147483662" r:id="rId12"/>
  </p:sldLayoutIdLst>
  <p:hf sldNum="0" hdr="0" ftr="0" dt="0"/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3200" b="0" i="0" kern="1200" cap="all">
          <a:solidFill>
            <a:schemeClr val="tx1"/>
          </a:solidFill>
          <a:effectLst/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120000"/>
        </a:lnSpc>
        <a:spcBef>
          <a:spcPts val="1000"/>
        </a:spcBef>
        <a:buClr>
          <a:schemeClr val="accent1"/>
        </a:buClr>
        <a:buSzPct val="100000"/>
        <a:buFont typeface="Arial" panose="020B0604020202020204" pitchFamily="34" charset="0"/>
        <a:buChar char="•"/>
        <a:defRPr sz="2000" kern="1200">
          <a:solidFill>
            <a:schemeClr val="tx1"/>
          </a:solidFill>
          <a:effectLst/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120000"/>
        </a:lnSpc>
        <a:spcBef>
          <a:spcPts val="500"/>
        </a:spcBef>
        <a:buClr>
          <a:schemeClr val="accent1"/>
        </a:buClr>
        <a:buSzPct val="100000"/>
        <a:buFont typeface="Arial" panose="020B0604020202020204" pitchFamily="34" charset="0"/>
        <a:buChar char="•"/>
        <a:defRPr sz="1800" kern="1200" cap="none" baseline="0">
          <a:solidFill>
            <a:schemeClr val="tx1"/>
          </a:solidFill>
          <a:effectLst/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120000"/>
        </a:lnSpc>
        <a:spcBef>
          <a:spcPts val="500"/>
        </a:spcBef>
        <a:buClr>
          <a:schemeClr val="accent1"/>
        </a:buClr>
        <a:buSzPct val="100000"/>
        <a:buFont typeface="Arial" panose="020B0604020202020204" pitchFamily="34" charset="0"/>
        <a:buChar char="•"/>
        <a:defRPr sz="1600" kern="1200">
          <a:solidFill>
            <a:schemeClr val="tx1"/>
          </a:solidFill>
          <a:effectLst/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120000"/>
        </a:lnSpc>
        <a:spcBef>
          <a:spcPts val="500"/>
        </a:spcBef>
        <a:buClr>
          <a:schemeClr val="accent1"/>
        </a:buClr>
        <a:buSzPct val="100000"/>
        <a:buFont typeface="Arial" panose="020B0604020202020204" pitchFamily="34" charset="0"/>
        <a:buChar char="•"/>
        <a:defRPr sz="1400" kern="1200" cap="none" baseline="0">
          <a:solidFill>
            <a:schemeClr val="tx1"/>
          </a:solidFill>
          <a:effectLst/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120000"/>
        </a:lnSpc>
        <a:spcBef>
          <a:spcPts val="500"/>
        </a:spcBef>
        <a:buClr>
          <a:schemeClr val="accent1"/>
        </a:buClr>
        <a:buSzPct val="100000"/>
        <a:buFont typeface="Arial" panose="020B0604020202020204" pitchFamily="34" charset="0"/>
        <a:buChar char="•"/>
        <a:defRPr sz="1200" kern="1200">
          <a:solidFill>
            <a:schemeClr val="tx1"/>
          </a:solidFill>
          <a:effectLst/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120000"/>
        </a:lnSpc>
        <a:spcBef>
          <a:spcPts val="500"/>
        </a:spcBef>
        <a:buClr>
          <a:schemeClr val="accent1"/>
        </a:buClr>
        <a:buSzPct val="100000"/>
        <a:buFont typeface="Arial" panose="020B0604020202020204" pitchFamily="34" charset="0"/>
        <a:buChar char="•"/>
        <a:defRPr sz="1200" kern="1200">
          <a:solidFill>
            <a:schemeClr val="tx1"/>
          </a:solidFill>
          <a:effectLst/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120000"/>
        </a:lnSpc>
        <a:spcBef>
          <a:spcPts val="500"/>
        </a:spcBef>
        <a:buClr>
          <a:schemeClr val="accent1"/>
        </a:buClr>
        <a:buSzPct val="100000"/>
        <a:buFont typeface="Arial" panose="020B0604020202020204" pitchFamily="34" charset="0"/>
        <a:buChar char="•"/>
        <a:defRPr sz="1200" kern="1200">
          <a:solidFill>
            <a:schemeClr val="tx1"/>
          </a:solidFill>
          <a:effectLst/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120000"/>
        </a:lnSpc>
        <a:spcBef>
          <a:spcPts val="500"/>
        </a:spcBef>
        <a:buClr>
          <a:schemeClr val="accent1"/>
        </a:buClr>
        <a:buSzPct val="100000"/>
        <a:buFont typeface="Arial" panose="020B0604020202020204" pitchFamily="34" charset="0"/>
        <a:buChar char="•"/>
        <a:defRPr sz="1200" kern="1200" baseline="0">
          <a:solidFill>
            <a:schemeClr val="tx1"/>
          </a:solidFill>
          <a:effectLst/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120000"/>
        </a:lnSpc>
        <a:spcBef>
          <a:spcPts val="500"/>
        </a:spcBef>
        <a:buClr>
          <a:schemeClr val="accent1"/>
        </a:buClr>
        <a:buSzPct val="100000"/>
        <a:buFont typeface="Arial" panose="020B0604020202020204" pitchFamily="34" charset="0"/>
        <a:buChar char="•"/>
        <a:defRPr sz="1200" kern="1200" baseline="0">
          <a:solidFill>
            <a:schemeClr val="tx1"/>
          </a:solidFill>
          <a:effectLst/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2.xml"/><Relationship Id="rId4" Type="http://schemas.openxmlformats.org/officeDocument/2006/relationships/image" Target="../media/image3.jpeg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2.xml"/><Relationship Id="rId4" Type="http://schemas.openxmlformats.org/officeDocument/2006/relationships/image" Target="../media/image5.jpeg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2.xml"/><Relationship Id="rId5" Type="http://schemas.openxmlformats.org/officeDocument/2006/relationships/image" Target="../media/image7.png"/><Relationship Id="rId4" Type="http://schemas.openxmlformats.org/officeDocument/2006/relationships/image" Target="../media/image6.png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2.xml"/><Relationship Id="rId4" Type="http://schemas.openxmlformats.org/officeDocument/2006/relationships/image" Target="../media/image9.png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2.xml"/><Relationship Id="rId5" Type="http://schemas.openxmlformats.org/officeDocument/2006/relationships/image" Target="../media/image11.png"/><Relationship Id="rId4" Type="http://schemas.openxmlformats.org/officeDocument/2006/relationships/image" Target="../media/image10.jpeg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12.xml"/><Relationship Id="rId5" Type="http://schemas.openxmlformats.org/officeDocument/2006/relationships/image" Target="../media/image13.png"/><Relationship Id="rId4" Type="http://schemas.openxmlformats.org/officeDocument/2006/relationships/image" Target="../media/image12.jpeg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12.xml"/><Relationship Id="rId4" Type="http://schemas.openxmlformats.org/officeDocument/2006/relationships/image" Target="../media/image14.jpeg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5.png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1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pic>
        <p:nvPicPr>
          <p:cNvPr id="3" name="Image 1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005945" y="457200"/>
            <a:ext cx="5636029" cy="5533334"/>
          </a:xfrm>
          <a:prstGeom prst="rect">
            <a:avLst/>
          </a:prstGeom>
        </p:spPr>
      </p:pic>
      <p:sp>
        <p:nvSpPr>
          <p:cNvPr id="4" name="Text 0"/>
          <p:cNvSpPr/>
          <p:nvPr/>
        </p:nvSpPr>
        <p:spPr>
          <a:xfrm>
            <a:off x="831273" y="1034935"/>
            <a:ext cx="4821382" cy="1379913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2200" b="1" dirty="0">
                <a:solidFill>
                  <a:srgbClr val="000000"/>
                </a:solidFill>
              </a:rPr>
              <a:t>Титульный Заголовок: Викторина по Android-разработке</a:t>
            </a:r>
            <a:endParaRPr lang="en-US" sz="2200" dirty="0"/>
          </a:p>
        </p:txBody>
      </p:sp>
      <p:sp>
        <p:nvSpPr>
          <p:cNvPr id="5" name="Text 1"/>
          <p:cNvSpPr/>
          <p:nvPr/>
        </p:nvSpPr>
        <p:spPr>
          <a:xfrm>
            <a:off x="831273" y="2414847"/>
            <a:ext cx="4821382" cy="2177935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1400" dirty="0">
                <a:solidFill>
                  <a:srgbClr val="000000"/>
                </a:solidFill>
              </a:rPr>
              <a:t>В данной презентации мы рассмотрим создание викторины по Android-разработке. Основное внимание будет уделено разработке мобильного приложения с использованием Jetpack Compose. Мы обсудим реализацию интерфейса, поддержку различных типов выбора ответов, добавление таймера и подсчёт баллов с отображением результатов.</a:t>
            </a:r>
            <a:endParaRPr lang="en-US" sz="1400" dirty="0"/>
          </a:p>
        </p:txBody>
      </p:sp>
      <p:sp>
        <p:nvSpPr>
          <p:cNvPr id="6" name="Text 2"/>
          <p:cNvSpPr/>
          <p:nvPr/>
        </p:nvSpPr>
        <p:spPr>
          <a:xfrm>
            <a:off x="831273" y="4592782"/>
            <a:ext cx="4821382" cy="43226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ru-RU" sz="1400" dirty="0">
                <a:solidFill>
                  <a:srgbClr val="000000"/>
                </a:solidFill>
              </a:rPr>
              <a:t>Выполнил: </a:t>
            </a:r>
            <a:r>
              <a:rPr lang="ru-RU" sz="1400">
                <a:solidFill>
                  <a:srgbClr val="000000"/>
                </a:solidFill>
              </a:rPr>
              <a:t>Молев Сергей </a:t>
            </a:r>
            <a:r>
              <a:rPr lang="ru-RU" sz="1400" dirty="0">
                <a:solidFill>
                  <a:srgbClr val="000000"/>
                </a:solidFill>
              </a:rPr>
              <a:t>401ИС-22</a:t>
            </a:r>
            <a:endParaRPr lang="en-US" sz="14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  <a:gradFill>
            <a:gsLst>
              <a:gs pos="42311">
                <a:schemeClr val="accent2">
                  <a:lumMod val="40000"/>
                  <a:lumOff val="60000"/>
                </a:schemeClr>
              </a:gs>
              <a:gs pos="35496">
                <a:srgbClr val="F5C1CE"/>
              </a:gs>
              <a:gs pos="18278">
                <a:srgbClr val="F9D9E1"/>
              </a:gs>
              <a:gs pos="0">
                <a:schemeClr val="accent1">
                  <a:lumMod val="5000"/>
                  <a:lumOff val="95000"/>
                </a:schemeClr>
              </a:gs>
              <a:gs pos="74000">
                <a:schemeClr val="accent1">
                  <a:lumMod val="45000"/>
                  <a:lumOff val="55000"/>
                </a:schemeClr>
              </a:gs>
              <a:gs pos="83000">
                <a:schemeClr val="accent1">
                  <a:lumMod val="45000"/>
                  <a:lumOff val="55000"/>
                </a:schemeClr>
              </a:gs>
              <a:gs pos="100000">
                <a:schemeClr val="accent1">
                  <a:lumMod val="30000"/>
                  <a:lumOff val="70000"/>
                </a:schemeClr>
              </a:gs>
            </a:gsLst>
            <a:lin ang="5400000" scaled="1"/>
          </a:gradFill>
        </p:spPr>
      </p:pic>
      <p:pic>
        <p:nvPicPr>
          <p:cNvPr id="3" name="Image 1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551218" y="1080655"/>
            <a:ext cx="3308465" cy="3308465"/>
          </a:xfrm>
          <a:prstGeom prst="rect">
            <a:avLst/>
          </a:prstGeom>
        </p:spPr>
      </p:pic>
      <p:sp>
        <p:nvSpPr>
          <p:cNvPr id="4" name="Text 0"/>
          <p:cNvSpPr/>
          <p:nvPr/>
        </p:nvSpPr>
        <p:spPr>
          <a:xfrm>
            <a:off x="831273" y="-45720"/>
            <a:ext cx="6650182" cy="98090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2200" b="1" dirty="0" err="1">
                <a:solidFill>
                  <a:srgbClr val="000000"/>
                </a:solidFill>
              </a:rPr>
              <a:t>Мобильное</a:t>
            </a:r>
            <a:r>
              <a:rPr lang="en-US" sz="2200" b="1" dirty="0">
                <a:solidFill>
                  <a:srgbClr val="000000"/>
                </a:solidFill>
              </a:rPr>
              <a:t> приложение на Jetpack Compose</a:t>
            </a:r>
            <a:endParaRPr lang="en-US" sz="2200" dirty="0"/>
          </a:p>
        </p:txBody>
      </p:sp>
      <p:sp>
        <p:nvSpPr>
          <p:cNvPr id="5" name="Text 1"/>
          <p:cNvSpPr/>
          <p:nvPr/>
        </p:nvSpPr>
        <p:spPr>
          <a:xfrm>
            <a:off x="831273" y="1251066"/>
            <a:ext cx="3574473" cy="2384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r>
              <a:rPr lang="ru-RU" b="1" dirty="0"/>
              <a:t>Цель:</a:t>
            </a:r>
          </a:p>
          <a:p>
            <a:r>
              <a:rPr lang="ru-RU" dirty="0"/>
              <a:t>Создать удобную и современную викторину для закрепления знаний по </a:t>
            </a:r>
            <a:r>
              <a:rPr lang="ru-RU" dirty="0" err="1"/>
              <a:t>Android</a:t>
            </a:r>
            <a:r>
              <a:rPr lang="ru-RU" dirty="0"/>
              <a:t>-разработке</a:t>
            </a:r>
          </a:p>
          <a:p>
            <a:endParaRPr lang="ru-RU" sz="1400" dirty="0">
              <a:effectLst/>
            </a:endParaRPr>
          </a:p>
        </p:txBody>
      </p:sp>
      <p:sp>
        <p:nvSpPr>
          <p:cNvPr id="6" name="Text 2"/>
          <p:cNvSpPr/>
          <p:nvPr/>
        </p:nvSpPr>
        <p:spPr>
          <a:xfrm>
            <a:off x="8617527" y="665921"/>
            <a:ext cx="3574473" cy="3508513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r>
              <a:rPr lang="ru-RU" b="1" dirty="0"/>
              <a:t>Основные задачи:</a:t>
            </a:r>
          </a:p>
          <a:p>
            <a:endParaRPr lang="ru-RU" dirty="0"/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ru-RU" dirty="0"/>
              <a:t> Реализовать интерфейс с помощью </a:t>
            </a:r>
            <a:r>
              <a:rPr lang="ru-RU" dirty="0" err="1"/>
              <a:t>Jetpack</a:t>
            </a:r>
            <a:r>
              <a:rPr lang="ru-RU" dirty="0"/>
              <a:t> </a:t>
            </a:r>
            <a:r>
              <a:rPr lang="ru-RU" dirty="0" err="1"/>
              <a:t>Compose</a:t>
            </a:r>
            <a:r>
              <a:rPr lang="ru-RU" dirty="0"/>
              <a:t> 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ru-RU" dirty="0"/>
              <a:t>Поддержать одиночный и множественный выбор 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ru-RU" dirty="0"/>
              <a:t>Добавить таймер на каждый вопрос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ru-RU" dirty="0"/>
              <a:t> Реализовать подсчёт баллов и экран результатов 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ru-RU" dirty="0"/>
              <a:t>Добавить возможность поделиться результатом</a:t>
            </a:r>
            <a:endParaRPr lang="ru-RU" dirty="0">
              <a:effectLst/>
            </a:endParaRPr>
          </a:p>
        </p:txBody>
      </p:sp>
      <p:sp>
        <p:nvSpPr>
          <p:cNvPr id="7" name="Text 3"/>
          <p:cNvSpPr/>
          <p:nvPr/>
        </p:nvSpPr>
        <p:spPr>
          <a:xfrm>
            <a:off x="831273" y="4609407"/>
            <a:ext cx="10806545" cy="6816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1400" dirty="0">
                <a:solidFill>
                  <a:srgbClr val="000000"/>
                </a:solidFill>
              </a:rPr>
              <a:t>Использование Jetpack Compose обеспечивает гибкость и эффективность при реализации различных функций приложения.</a:t>
            </a:r>
            <a:endParaRPr lang="en-US" sz="1400" dirty="0"/>
          </a:p>
        </p:txBody>
      </p:sp>
      <p:sp>
        <p:nvSpPr>
          <p:cNvPr id="8" name="Text 4"/>
          <p:cNvSpPr/>
          <p:nvPr/>
        </p:nvSpPr>
        <p:spPr>
          <a:xfrm>
            <a:off x="831273" y="5606935"/>
            <a:ext cx="6650182" cy="43226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endParaRPr lang="en-US" sz="14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-49696"/>
            <a:ext cx="12192000" cy="6858000"/>
          </a:xfrm>
          <a:prstGeom prst="rect">
            <a:avLst/>
          </a:prstGeom>
        </p:spPr>
      </p:pic>
      <p:sp>
        <p:nvSpPr>
          <p:cNvPr id="4" name="Text 0"/>
          <p:cNvSpPr/>
          <p:nvPr/>
        </p:nvSpPr>
        <p:spPr>
          <a:xfrm>
            <a:off x="831273" y="868680"/>
            <a:ext cx="5818909" cy="581891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r>
              <a:rPr lang="ru-RU" sz="2400" b="1" dirty="0"/>
              <a:t>Архитектура</a:t>
            </a:r>
            <a:endParaRPr lang="ru-RU" sz="2400" b="1" dirty="0">
              <a:effectLst/>
            </a:endParaRPr>
          </a:p>
        </p:txBody>
      </p:sp>
      <p:sp>
        <p:nvSpPr>
          <p:cNvPr id="5" name="Text 1"/>
          <p:cNvSpPr/>
          <p:nvPr/>
        </p:nvSpPr>
        <p:spPr>
          <a:xfrm>
            <a:off x="831273" y="1866207"/>
            <a:ext cx="2777837" cy="267597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r>
              <a:rPr lang="ru-RU" sz="2000" b="1" dirty="0"/>
              <a:t>Экраны:</a:t>
            </a:r>
            <a:endParaRPr lang="ru-RU" sz="2000" dirty="0"/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ru-RU" sz="2000" dirty="0"/>
              <a:t>Авторизация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ru-RU" sz="2000" dirty="0"/>
              <a:t>Стартовый экран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ru-RU" sz="2000" dirty="0"/>
              <a:t>Викторина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ru-RU" sz="2000" dirty="0"/>
              <a:t>Результаты</a:t>
            </a:r>
          </a:p>
          <a:p>
            <a:pPr marL="0" indent="0" algn="l">
              <a:buNone/>
            </a:pPr>
            <a:endParaRPr lang="en-US" sz="1600" dirty="0"/>
          </a:p>
        </p:txBody>
      </p:sp>
      <p:sp>
        <p:nvSpPr>
          <p:cNvPr id="6" name="Text 2"/>
          <p:cNvSpPr/>
          <p:nvPr/>
        </p:nvSpPr>
        <p:spPr>
          <a:xfrm>
            <a:off x="831273" y="2697480"/>
            <a:ext cx="5818909" cy="1429789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endParaRPr lang="en-US" sz="1600" dirty="0"/>
          </a:p>
        </p:txBody>
      </p:sp>
      <p:sp>
        <p:nvSpPr>
          <p:cNvPr id="7" name="Text 3"/>
          <p:cNvSpPr/>
          <p:nvPr/>
        </p:nvSpPr>
        <p:spPr>
          <a:xfrm>
            <a:off x="831273" y="4127269"/>
            <a:ext cx="5818909" cy="931025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endParaRPr lang="en-US" sz="1400" dirty="0"/>
          </a:p>
        </p:txBody>
      </p:sp>
      <p:sp>
        <p:nvSpPr>
          <p:cNvPr id="8" name="Text 4"/>
          <p:cNvSpPr/>
          <p:nvPr/>
        </p:nvSpPr>
        <p:spPr>
          <a:xfrm>
            <a:off x="831273" y="5606935"/>
            <a:ext cx="5818909" cy="43226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endParaRPr lang="en-US" sz="1400" dirty="0"/>
          </a:p>
        </p:txBody>
      </p:sp>
      <p:pic>
        <p:nvPicPr>
          <p:cNvPr id="10" name="Рисунок 9" descr="Изображение выглядит как текст, снимок экрана, линия&#10;&#10;Содержимое, созданное искусственным интеллектом, может быть неверным.">
            <a:extLst>
              <a:ext uri="{FF2B5EF4-FFF2-40B4-BE49-F238E27FC236}">
                <a16:creationId xmlns:a16="http://schemas.microsoft.com/office/drawing/2014/main" id="{17B8365F-F3DB-40B2-6D5F-7E9D197F1814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831221" y="-46444"/>
            <a:ext cx="3054096" cy="6858000"/>
          </a:xfrm>
          <a:prstGeom prst="rect">
            <a:avLst/>
          </a:prstGeom>
        </p:spPr>
      </p:pic>
      <p:pic>
        <p:nvPicPr>
          <p:cNvPr id="12" name="Рисунок 11" descr="Изображение выглядит как текст, снимок экрана, Шрифт&#10;&#10;Содержимое, созданное искусственным интеллектом, может быть неверным.">
            <a:extLst>
              <a:ext uri="{FF2B5EF4-FFF2-40B4-BE49-F238E27FC236}">
                <a16:creationId xmlns:a16="http://schemas.microsoft.com/office/drawing/2014/main" id="{821220E1-9AFD-931B-14B1-42D1AE494473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9062342" y="-46444"/>
            <a:ext cx="3070472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1246909" y="203662"/>
            <a:ext cx="9975273" cy="98090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r>
              <a:rPr lang="ru-RU" sz="2400" b="1" dirty="0"/>
              <a:t>Функциональность</a:t>
            </a:r>
            <a:endParaRPr lang="ru-RU" sz="2400" b="1" dirty="0">
              <a:effectLst/>
            </a:endParaRPr>
          </a:p>
        </p:txBody>
      </p:sp>
      <p:sp>
        <p:nvSpPr>
          <p:cNvPr id="4" name="Text 1"/>
          <p:cNvSpPr/>
          <p:nvPr/>
        </p:nvSpPr>
        <p:spPr>
          <a:xfrm>
            <a:off x="1246909" y="1113183"/>
            <a:ext cx="9144000" cy="2107095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r>
              <a:rPr lang="ru-RU" dirty="0"/>
              <a:t>Как работает викторина</a:t>
            </a:r>
          </a:p>
          <a:p>
            <a:r>
              <a:rPr lang="ru-RU" dirty="0"/>
              <a:t>• 10 вопросов по </a:t>
            </a:r>
            <a:r>
              <a:rPr lang="ru-RU" dirty="0" err="1"/>
              <a:t>Android</a:t>
            </a:r>
            <a:r>
              <a:rPr lang="ru-RU" dirty="0"/>
              <a:t>-разработке</a:t>
            </a:r>
          </a:p>
          <a:p>
            <a:r>
              <a:rPr lang="ru-RU" dirty="0"/>
              <a:t> • Одиночный выбор (</a:t>
            </a:r>
            <a:r>
              <a:rPr lang="ru-RU" dirty="0" err="1"/>
              <a:t>RadioButton</a:t>
            </a:r>
            <a:r>
              <a:rPr lang="ru-RU" dirty="0"/>
              <a:t>) — авто-переход</a:t>
            </a:r>
          </a:p>
          <a:p>
            <a:r>
              <a:rPr lang="ru-RU" dirty="0"/>
              <a:t> • Множественный выбор (</a:t>
            </a:r>
            <a:r>
              <a:rPr lang="ru-RU" dirty="0" err="1"/>
              <a:t>Checkbox</a:t>
            </a:r>
            <a:r>
              <a:rPr lang="ru-RU" dirty="0"/>
              <a:t>) — кнопка «Подтвердить»</a:t>
            </a:r>
          </a:p>
          <a:p>
            <a:r>
              <a:rPr lang="ru-RU" dirty="0"/>
              <a:t> • Таймер: 30 секунд </a:t>
            </a:r>
          </a:p>
          <a:p>
            <a:r>
              <a:rPr lang="ru-RU" dirty="0"/>
              <a:t>• Вибрация при истечении времени</a:t>
            </a:r>
          </a:p>
          <a:p>
            <a:r>
              <a:rPr lang="ru-RU" dirty="0"/>
              <a:t> • Подсчёт правильных ответов</a:t>
            </a:r>
            <a:endParaRPr lang="ru-RU" dirty="0">
              <a:effectLst/>
            </a:endParaRPr>
          </a:p>
        </p:txBody>
      </p:sp>
      <p:sp>
        <p:nvSpPr>
          <p:cNvPr id="6" name="Text 3"/>
          <p:cNvSpPr/>
          <p:nvPr/>
        </p:nvSpPr>
        <p:spPr>
          <a:xfrm>
            <a:off x="7065818" y="3944389"/>
            <a:ext cx="4156364" cy="1429789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endParaRPr lang="en-US" sz="1400" dirty="0"/>
          </a:p>
        </p:txBody>
      </p:sp>
      <p:pic>
        <p:nvPicPr>
          <p:cNvPr id="8" name="Рисунок 7" descr="Изображение выглядит как текст, снимок экрана, Шрифт, число&#10;&#10;Содержимое, созданное искусственным интеллектом, может быть неверным.">
            <a:extLst>
              <a:ext uri="{FF2B5EF4-FFF2-40B4-BE49-F238E27FC236}">
                <a16:creationId xmlns:a16="http://schemas.microsoft.com/office/drawing/2014/main" id="{0B60AED6-8055-D89E-ABFF-919D1F3ADC41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069764" y="-94332"/>
            <a:ext cx="307143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pic>
        <p:nvPicPr>
          <p:cNvPr id="3" name="Image 1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28600" y="523702"/>
            <a:ext cx="4651277" cy="6051665"/>
          </a:xfrm>
          <a:prstGeom prst="rect">
            <a:avLst/>
          </a:prstGeom>
        </p:spPr>
      </p:pic>
      <p:sp>
        <p:nvSpPr>
          <p:cNvPr id="4" name="Text 0"/>
          <p:cNvSpPr/>
          <p:nvPr/>
        </p:nvSpPr>
        <p:spPr>
          <a:xfrm>
            <a:off x="5818909" y="868680"/>
            <a:ext cx="5818909" cy="581891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r>
              <a:rPr lang="ru-RU" sz="2400" b="1" dirty="0"/>
              <a:t>Экран результатов</a:t>
            </a:r>
            <a:endParaRPr lang="ru-RU" sz="2400" b="1" dirty="0">
              <a:effectLst/>
            </a:endParaRPr>
          </a:p>
        </p:txBody>
      </p:sp>
      <p:sp>
        <p:nvSpPr>
          <p:cNvPr id="5" name="Text 1"/>
          <p:cNvSpPr/>
          <p:nvPr/>
        </p:nvSpPr>
        <p:spPr>
          <a:xfrm>
            <a:off x="5709578" y="1549419"/>
            <a:ext cx="5818909" cy="2000115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r>
              <a:rPr lang="ru-RU" dirty="0"/>
              <a:t>• Имя пользователя, баллы, процент</a:t>
            </a:r>
          </a:p>
          <a:p>
            <a:r>
              <a:rPr lang="ru-RU" dirty="0"/>
              <a:t> • Мотивационные сообщения:</a:t>
            </a:r>
          </a:p>
          <a:p>
            <a:r>
              <a:rPr lang="ru-RU" dirty="0"/>
              <a:t>100% → 🎉 Отлично!</a:t>
            </a:r>
          </a:p>
          <a:p>
            <a:r>
              <a:rPr lang="ru-RU" dirty="0"/>
              <a:t>≥66% → 👍 Хорошо!</a:t>
            </a:r>
          </a:p>
          <a:p>
            <a:r>
              <a:rPr lang="ru-RU" dirty="0"/>
              <a:t>≥50% → 😊 Неплохо</a:t>
            </a:r>
          </a:p>
          <a:p>
            <a:r>
              <a:rPr lang="ru-RU" dirty="0"/>
              <a:t>&lt;50% → 🤔 Попробуйте ещё раз! • Кнопки:</a:t>
            </a:r>
          </a:p>
          <a:p>
            <a:r>
              <a:rPr lang="ru-RU" dirty="0"/>
              <a:t>Поделиться</a:t>
            </a:r>
          </a:p>
          <a:p>
            <a:r>
              <a:rPr lang="ru-RU" dirty="0"/>
              <a:t>Начать заново</a:t>
            </a:r>
          </a:p>
        </p:txBody>
      </p:sp>
      <p:sp>
        <p:nvSpPr>
          <p:cNvPr id="6" name="Text 2"/>
          <p:cNvSpPr/>
          <p:nvPr/>
        </p:nvSpPr>
        <p:spPr>
          <a:xfrm>
            <a:off x="5818909" y="3528753"/>
            <a:ext cx="5818909" cy="931025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endParaRPr lang="en-US" sz="1400" dirty="0"/>
          </a:p>
        </p:txBody>
      </p:sp>
      <p:sp>
        <p:nvSpPr>
          <p:cNvPr id="7" name="Text 3"/>
          <p:cNvSpPr/>
          <p:nvPr/>
        </p:nvSpPr>
        <p:spPr>
          <a:xfrm>
            <a:off x="5818909" y="5606935"/>
            <a:ext cx="5818909" cy="43226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endParaRPr lang="en-US" sz="1400" dirty="0"/>
          </a:p>
        </p:txBody>
      </p:sp>
      <p:pic>
        <p:nvPicPr>
          <p:cNvPr id="9" name="Рисунок 8" descr="Изображение выглядит как текст, снимок экрана, Шрифт, число&#10;&#10;Содержимое, созданное искусственным интеллектом, может быть неверным.">
            <a:extLst>
              <a:ext uri="{FF2B5EF4-FFF2-40B4-BE49-F238E27FC236}">
                <a16:creationId xmlns:a16="http://schemas.microsoft.com/office/drawing/2014/main" id="{A382C7EA-7FBC-FEFA-EFF4-B1F3C7459463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883134" y="3429000"/>
            <a:ext cx="2864015" cy="2969394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-79514" y="0"/>
            <a:ext cx="12192000" cy="6858000"/>
          </a:xfrm>
          <a:prstGeom prst="rect">
            <a:avLst/>
          </a:prstGeom>
        </p:spPr>
      </p:pic>
      <p:pic>
        <p:nvPicPr>
          <p:cNvPr id="3" name="Image 1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70164" y="415636"/>
            <a:ext cx="3308465" cy="5825033"/>
          </a:xfrm>
          <a:prstGeom prst="rect">
            <a:avLst/>
          </a:prstGeom>
        </p:spPr>
      </p:pic>
      <p:sp>
        <p:nvSpPr>
          <p:cNvPr id="4" name="Text 0"/>
          <p:cNvSpPr/>
          <p:nvPr/>
        </p:nvSpPr>
        <p:spPr>
          <a:xfrm>
            <a:off x="4696691" y="868680"/>
            <a:ext cx="5818909" cy="98090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2200" b="1" dirty="0">
                <a:solidFill>
                  <a:srgbClr val="000000"/>
                </a:solidFill>
              </a:rPr>
              <a:t>• Реализовать подсчёт баллов и экран результатов</a:t>
            </a:r>
            <a:endParaRPr lang="en-US" sz="2200" dirty="0"/>
          </a:p>
        </p:txBody>
      </p:sp>
      <p:sp>
        <p:nvSpPr>
          <p:cNvPr id="5" name="Text 1"/>
          <p:cNvSpPr/>
          <p:nvPr/>
        </p:nvSpPr>
        <p:spPr>
          <a:xfrm>
            <a:off x="4696691" y="1866207"/>
            <a:ext cx="5818909" cy="6816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dirty="0">
                <a:solidFill>
                  <a:srgbClr val="000000"/>
                </a:solidFill>
              </a:rPr>
              <a:t>Подсчёт баллов в приложении-викторине по Android-разработке осуществляется автоматически</a:t>
            </a:r>
            <a:r>
              <a:rPr lang="en-US" sz="1400" dirty="0">
                <a:solidFill>
                  <a:srgbClr val="000000"/>
                </a:solidFill>
              </a:rPr>
              <a:t>.</a:t>
            </a:r>
            <a:endParaRPr lang="en-US" sz="1400" dirty="0"/>
          </a:p>
        </p:txBody>
      </p:sp>
      <p:sp>
        <p:nvSpPr>
          <p:cNvPr id="6" name="Text 2"/>
          <p:cNvSpPr/>
          <p:nvPr/>
        </p:nvSpPr>
        <p:spPr>
          <a:xfrm>
            <a:off x="4696691" y="3528753"/>
            <a:ext cx="5818909" cy="1180407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endParaRPr lang="en-US" dirty="0"/>
          </a:p>
        </p:txBody>
      </p:sp>
      <p:sp>
        <p:nvSpPr>
          <p:cNvPr id="7" name="Text 3"/>
          <p:cNvSpPr/>
          <p:nvPr/>
        </p:nvSpPr>
        <p:spPr>
          <a:xfrm>
            <a:off x="4696691" y="5606935"/>
            <a:ext cx="5818909" cy="43226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endParaRPr lang="en-US" sz="1400" dirty="0"/>
          </a:p>
        </p:txBody>
      </p:sp>
      <p:pic>
        <p:nvPicPr>
          <p:cNvPr id="9" name="Рисунок 8" descr="Изображение выглядит как текст, снимок экрана, программное обеспечение, Мультимедийное программное обеспечение&#10;&#10;Содержимое, созданное искусственным интеллектом, может быть неверным.">
            <a:extLst>
              <a:ext uri="{FF2B5EF4-FFF2-40B4-BE49-F238E27FC236}">
                <a16:creationId xmlns:a16="http://schemas.microsoft.com/office/drawing/2014/main" id="{4B95E8D3-6F68-8B5A-E1D7-CE3EE61F61A7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899991" y="2718261"/>
            <a:ext cx="5251849" cy="3854111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pic>
        <p:nvPicPr>
          <p:cNvPr id="3" name="Image 1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70164" y="415636"/>
            <a:ext cx="3308465" cy="6041690"/>
          </a:xfrm>
          <a:prstGeom prst="rect">
            <a:avLst/>
          </a:prstGeom>
        </p:spPr>
      </p:pic>
      <p:sp>
        <p:nvSpPr>
          <p:cNvPr id="4" name="Text 0"/>
          <p:cNvSpPr/>
          <p:nvPr/>
        </p:nvSpPr>
        <p:spPr>
          <a:xfrm>
            <a:off x="4696691" y="868680"/>
            <a:ext cx="5818909" cy="98090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r>
              <a:rPr lang="ru-RU" sz="2400" b="1" dirty="0"/>
              <a:t>Итоги</a:t>
            </a:r>
            <a:endParaRPr lang="ru-RU" sz="2400" b="1" dirty="0">
              <a:effectLst/>
            </a:endParaRPr>
          </a:p>
        </p:txBody>
      </p:sp>
      <p:sp>
        <p:nvSpPr>
          <p:cNvPr id="5" name="Text 1"/>
          <p:cNvSpPr/>
          <p:nvPr/>
        </p:nvSpPr>
        <p:spPr>
          <a:xfrm>
            <a:off x="4696691" y="1866207"/>
            <a:ext cx="5818909" cy="1463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r>
              <a:rPr lang="ru-RU" dirty="0"/>
              <a:t>Достижения: ✓ Рабочая викторина ✓ Современный стек ✓ Чистый код ✓ Красивый интерфейс</a:t>
            </a:r>
            <a:endParaRPr lang="ru-RU" dirty="0">
              <a:effectLst/>
            </a:endParaRPr>
          </a:p>
        </p:txBody>
      </p:sp>
      <p:sp>
        <p:nvSpPr>
          <p:cNvPr id="6" name="Text 2"/>
          <p:cNvSpPr/>
          <p:nvPr/>
        </p:nvSpPr>
        <p:spPr>
          <a:xfrm>
            <a:off x="4696691" y="3528753"/>
            <a:ext cx="5818909" cy="1429789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r>
              <a:rPr lang="ru-RU" dirty="0"/>
              <a:t>Планы: 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ru-RU" dirty="0"/>
              <a:t>Уровни сложности 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ru-RU" dirty="0"/>
              <a:t> Сохранение статистики 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ru-RU" dirty="0"/>
              <a:t>Анимации и звуки 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ru-RU" dirty="0"/>
              <a:t>Публикация в Google Play</a:t>
            </a:r>
            <a:endParaRPr lang="ru-RU" dirty="0">
              <a:effectLst/>
            </a:endParaRPr>
          </a:p>
        </p:txBody>
      </p:sp>
      <p:sp>
        <p:nvSpPr>
          <p:cNvPr id="7" name="Text 3"/>
          <p:cNvSpPr/>
          <p:nvPr/>
        </p:nvSpPr>
        <p:spPr>
          <a:xfrm>
            <a:off x="4696691" y="5606935"/>
            <a:ext cx="5818909" cy="43226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endParaRPr lang="en-US" sz="14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1246909" y="1866207"/>
            <a:ext cx="9975273" cy="7813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3200" b="1" dirty="0">
                <a:solidFill>
                  <a:srgbClr val="000000"/>
                </a:solidFill>
              </a:rPr>
              <a:t>Спасибо за внимание!</a:t>
            </a:r>
            <a:endParaRPr lang="en-US" sz="3200" dirty="0"/>
          </a:p>
        </p:txBody>
      </p:sp>
      <p:sp>
        <p:nvSpPr>
          <p:cNvPr id="4" name="Text 1"/>
          <p:cNvSpPr/>
          <p:nvPr/>
        </p:nvSpPr>
        <p:spPr>
          <a:xfrm>
            <a:off x="1246909" y="3113116"/>
            <a:ext cx="9975273" cy="1518519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1400" dirty="0">
                <a:solidFill>
                  <a:srgbClr val="000000"/>
                </a:solidFill>
              </a:rPr>
              <a:t>Спасибо за внимание. В этой презентации мы рассмотрели, как можно создать викторину по Android-разработке с использованием Jetpack Compose. Основные задачи, которые мы обсудили, включают реализацию интерфейса, поддержку различных типов выбора, добавление таймера и подсчёт баллов. </a:t>
            </a:r>
            <a:endParaRPr lang="en-US" sz="14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Галерея">
  <a:themeElements>
    <a:clrScheme name="Галерея">
      <a:dk1>
        <a:sysClr val="windowText" lastClr="000000"/>
      </a:dk1>
      <a:lt1>
        <a:sysClr val="window" lastClr="FFFFFF"/>
      </a:lt1>
      <a:dk2>
        <a:srgbClr val="454545"/>
      </a:dk2>
      <a:lt2>
        <a:srgbClr val="DFDBD5"/>
      </a:lt2>
      <a:accent1>
        <a:srgbClr val="B71E42"/>
      </a:accent1>
      <a:accent2>
        <a:srgbClr val="DE478E"/>
      </a:accent2>
      <a:accent3>
        <a:srgbClr val="BC72F0"/>
      </a:accent3>
      <a:accent4>
        <a:srgbClr val="795FAF"/>
      </a:accent4>
      <a:accent5>
        <a:srgbClr val="586EA6"/>
      </a:accent5>
      <a:accent6>
        <a:srgbClr val="6892A0"/>
      </a:accent6>
      <a:hlink>
        <a:srgbClr val="FA2B5C"/>
      </a:hlink>
      <a:folHlink>
        <a:srgbClr val="BC658E"/>
      </a:folHlink>
    </a:clrScheme>
    <a:fontScheme name="Галерея">
      <a:majorFont>
        <a:latin typeface="Gill Sans MT" panose="020B0502020104020203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Gill Sans MT" panose="020B0502020104020203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Галерея">
      <a:fillStyleLst>
        <a:solidFill>
          <a:schemeClr val="phClr"/>
        </a:solidFill>
        <a:gradFill rotWithShape="1">
          <a:gsLst>
            <a:gs pos="0">
              <a:schemeClr val="phClr">
                <a:tint val="54000"/>
                <a:alpha val="100000"/>
                <a:satMod val="105000"/>
                <a:lumMod val="110000"/>
              </a:schemeClr>
            </a:gs>
            <a:gs pos="100000">
              <a:schemeClr val="phClr">
                <a:tint val="78000"/>
                <a:alpha val="92000"/>
                <a:satMod val="109000"/>
                <a:lumMod val="100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98000"/>
                <a:satMod val="110000"/>
                <a:lumMod val="104000"/>
              </a:schemeClr>
            </a:gs>
            <a:gs pos="69000">
              <a:schemeClr val="phClr">
                <a:shade val="88000"/>
                <a:satMod val="130000"/>
                <a:lumMod val="92000"/>
              </a:schemeClr>
            </a:gs>
            <a:gs pos="100000">
              <a:schemeClr val="phClr">
                <a:shade val="78000"/>
                <a:satMod val="130000"/>
                <a:lumMod val="92000"/>
              </a:schemeClr>
            </a:gs>
          </a:gsLst>
          <a:lin ang="5400000" scaled="0"/>
        </a:gradFill>
      </a:fillStyleLst>
      <a:lnStyleLst>
        <a:ln w="9525" cap="flat" cmpd="sng" algn="ctr">
          <a:solidFill>
            <a:schemeClr val="phClr"/>
          </a:solidFill>
          <a:prstDash val="solid"/>
        </a:ln>
        <a:ln w="15875" cap="flat" cmpd="sng" algn="ctr">
          <a:solidFill>
            <a:schemeClr val="phClr"/>
          </a:solidFill>
          <a:prstDash val="solid"/>
        </a:ln>
        <a:ln w="22225" cap="flat" cmpd="sng" algn="ctr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0800" dist="50800" dir="5400000" sx="96000" sy="96000" rotWithShape="0">
              <a:srgbClr val="000000">
                <a:alpha val="48000"/>
              </a:srgbClr>
            </a:outerShdw>
          </a:effectLst>
          <a:scene3d>
            <a:camera prst="orthographicFront">
              <a:rot lat="0" lon="0" rev="0"/>
            </a:camera>
            <a:lightRig rig="balanced" dir="t">
              <a:rot lat="0" lon="0" rev="1080000"/>
            </a:lightRig>
          </a:scene3d>
          <a:sp3d>
            <a:bevelT w="38100" h="12700" prst="softRound"/>
          </a:sp3d>
        </a:effectStyle>
      </a:effectStyleLst>
      <a:bgFillStyleLst>
        <a:solidFill>
          <a:schemeClr val="phClr"/>
        </a:solidFill>
        <a:solidFill>
          <a:schemeClr val="phClr"/>
        </a:solidFill>
        <a:gradFill rotWithShape="1">
          <a:gsLst>
            <a:gs pos="0">
              <a:schemeClr val="phClr">
                <a:tint val="94000"/>
                <a:satMod val="80000"/>
                <a:lumMod val="106000"/>
              </a:schemeClr>
            </a:gs>
            <a:gs pos="100000">
              <a:schemeClr val="phClr">
                <a:shade val="80000"/>
              </a:schemeClr>
            </a:gs>
          </a:gsLst>
          <a:path path="circle">
            <a:fillToRect l="43000" r="43000" b="100000"/>
          </a:path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Gallery" id="{BBFCD31E-59A1-489D-B089-A3EAD7CAE12E}" vid="{F5E91637-A7B6-4E27-B710-77DA7014EE1E}"/>
    </a:ext>
  </a:extLst>
</a:theme>
</file>

<file path=ppt/theme/theme2.xml><?xml version="1.0" encoding="utf-8"?>
<a:theme xmlns:a="http://schemas.openxmlformats.org/drawingml/2006/main" name="Тема Office">
  <a:themeElements>
    <a:clrScheme name="Стандартная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Стандартная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Стандартная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Gallery</Template>
  <TotalTime>30</TotalTime>
  <Words>316</Words>
  <Application>Microsoft Office PowerPoint</Application>
  <PresentationFormat>Широкоэкранный</PresentationFormat>
  <Paragraphs>56</Paragraphs>
  <Slides>8</Slides>
  <Notes>8</Notes>
  <HiddenSlides>0</HiddenSlides>
  <MMClips>0</MMClips>
  <ScaleCrop>false</ScaleCrop>
  <HeadingPairs>
    <vt:vector size="6" baseType="variant">
      <vt:variant>
        <vt:lpstr>Использованные шрифты</vt:lpstr>
      </vt:variant>
      <vt:variant>
        <vt:i4>2</vt:i4>
      </vt:variant>
      <vt:variant>
        <vt:lpstr>Тема</vt:lpstr>
      </vt:variant>
      <vt:variant>
        <vt:i4>1</vt:i4>
      </vt:variant>
      <vt:variant>
        <vt:lpstr>Заголовки слайдов</vt:lpstr>
      </vt:variant>
      <vt:variant>
        <vt:i4>8</vt:i4>
      </vt:variant>
    </vt:vector>
  </HeadingPairs>
  <TitlesOfParts>
    <vt:vector size="11" baseType="lpstr">
      <vt:lpstr>Arial</vt:lpstr>
      <vt:lpstr>Gill Sans MT</vt:lpstr>
      <vt:lpstr>Галерея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Сергей Молев</cp:lastModifiedBy>
  <cp:revision>3</cp:revision>
  <dcterms:created xsi:type="dcterms:W3CDTF">2025-12-23T13:54:55Z</dcterms:created>
  <dcterms:modified xsi:type="dcterms:W3CDTF">2025-12-23T16:05:20Z</dcterms:modified>
</cp:coreProperties>
</file>